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F2F4F8"/>
                </a:solidFill>
                <a:latin typeface="Calibri"/>
              </a:defRPr>
            </a:pPr>
            <a:r>
              <a:t>Kairos: Regime-Aware Portfolio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F2F4F8"/>
                </a:solidFill>
                <a:latin typeface="Calibri"/>
              </a:defRPr>
            </a:pPr>
            <a:r>
              <a:t>Does regime-aware machine learning allocation improve risk-adjusted returns over classical methods?</a:t>
            </a:r>
          </a:p>
          <a:p>
            <a:pPr>
              <a:spcAft>
                <a:spcPts val="800"/>
              </a:spcAft>
              <a:defRPr sz="2400" b="0">
                <a:solidFill>
                  <a:srgbClr val="F2F4F8"/>
                </a:solidFill>
                <a:latin typeface="Calibri"/>
              </a:defRPr>
            </a:pPr>
            <a:r>
              <a:t>Under what market conditions does any advantage hold or break down?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Data and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2F4F8"/>
                </a:solidFill>
                <a:latin typeface="Calibri"/>
              </a:defRPr>
            </a:pPr>
            <a:r>
              <a:t>Nine assets: SPY, EFA, TLT, IEF, HYG, GLD, DBC, BTC-USD, ETH-USD</a:t>
            </a:r>
          </a:p>
          <a:p>
            <a:pPr>
              <a:spcAft>
                <a:spcPts val="800"/>
              </a:spcAft>
              <a:defRPr sz="2200" b="0">
                <a:solidFill>
                  <a:srgbClr val="F2F4F8"/>
                </a:solidFill>
                <a:latin typeface="Calibri"/>
              </a:defRPr>
            </a:pPr>
            <a:r>
              <a:t>Daily adjusted closes from Yahoo Finance, VIX for regimes, 13-week T-bill as the risk-free rate</a:t>
            </a:r>
          </a:p>
          <a:p>
            <a:pPr>
              <a:spcAft>
                <a:spcPts val="800"/>
              </a:spcAft>
              <a:defRPr sz="2200" b="0">
                <a:solidFill>
                  <a:srgbClr val="F2F4F8"/>
                </a:solidFill>
                <a:latin typeface="Calibri"/>
              </a:defRPr>
            </a:pPr>
            <a:r>
              <a:t>No simulated or reconstructed series. Panel validated before use</a:t>
            </a:r>
          </a:p>
          <a:p>
            <a:pPr>
              <a:spcAft>
                <a:spcPts val="800"/>
              </a:spcAft>
              <a:defRPr sz="2200" b="0">
                <a:solidFill>
                  <a:srgbClr val="F2F4F8"/>
                </a:solidFill>
                <a:latin typeface="Calibri"/>
              </a:defRPr>
            </a:pPr>
            <a:r>
              <a:t>Universe expands as each asset builds a usable track record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Regime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regime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2592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2F4F8"/>
                </a:solidFill>
                <a:latin typeface="Calibri"/>
              </a:defRPr>
            </a:pPr>
            <a:r>
              <a:t>Walk-forward HMM, no look-ahead</a:t>
            </a:r>
          </a:p>
          <a:p>
            <a:pPr>
              <a:spcAft>
                <a:spcPts val="800"/>
              </a:spcAft>
              <a:defRPr sz="2000" b="0">
                <a:solidFill>
                  <a:srgbClr val="F2F4F8"/>
                </a:solidFill>
                <a:latin typeface="Calibri"/>
              </a:defRPr>
            </a:pPr>
            <a:r>
              <a:t>Stress windows flagged: 84%</a:t>
            </a:r>
          </a:p>
          <a:p>
            <a:pPr>
              <a:spcAft>
                <a:spcPts val="800"/>
              </a:spcAft>
              <a:defRPr sz="2000" b="0">
                <a:solidFill>
                  <a:srgbClr val="F2F4F8"/>
                </a:solidFill>
                <a:latin typeface="Calibri"/>
              </a:defRPr>
            </a:pPr>
            <a:r>
              <a:t>Calm controls flagged: 8%</a:t>
            </a:r>
          </a:p>
          <a:p>
            <a:pPr>
              <a:spcAft>
                <a:spcPts val="800"/>
              </a:spcAft>
              <a:defRPr sz="2000" b="0">
                <a:solidFill>
                  <a:srgbClr val="F2F4F8"/>
                </a:solidFill>
                <a:latin typeface="Calibri"/>
              </a:defRPr>
            </a:pPr>
            <a:r>
              <a:t>Volatility rule: 66% and 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Forecasting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680959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forecast_s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98079" cy="24539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2F4F8"/>
                </a:solidFill>
                <a:latin typeface="Calibri"/>
              </a:defRPr>
            </a:pPr>
            <a:r>
              <a:t>Mean stacked IC: -0.061</a:t>
            </a:r>
          </a:p>
          <a:p>
            <a:pPr>
              <a:spcAft>
                <a:spcPts val="800"/>
              </a:spcAft>
              <a:defRPr sz="1600" b="0">
                <a:solidFill>
                  <a:srgbClr val="F2F4F8"/>
                </a:solidFill>
                <a:latin typeface="Calibri"/>
              </a:defRPr>
            </a:pPr>
            <a:r>
              <a:t>Significantly negative IC: 2 of 9 assets</a:t>
            </a:r>
          </a:p>
          <a:p>
            <a:pPr>
              <a:spcAft>
                <a:spcPts val="800"/>
              </a:spcAft>
              <a:defRPr sz="1600" b="0">
                <a:solidFill>
                  <a:srgbClr val="F2F4F8"/>
                </a:solidFill>
                <a:latin typeface="Calibri"/>
              </a:defRPr>
            </a:pPr>
            <a:r>
              <a:t>Significantly positive IC: 0 of 9 assets</a:t>
            </a:r>
          </a:p>
          <a:p>
            <a:pPr>
              <a:spcAft>
                <a:spcPts val="800"/>
              </a:spcAft>
              <a:defRPr sz="1600" b="0">
                <a:solidFill>
                  <a:srgbClr val="F2F4F8"/>
                </a:solidFill>
                <a:latin typeface="Calibri"/>
              </a:defRPr>
            </a:pPr>
            <a:r>
              <a:t>R2 below the historical mean on 9 of 9 assets</a:t>
            </a:r>
          </a:p>
          <a:p>
            <a:pPr>
              <a:spcAft>
                <a:spcPts val="800"/>
              </a:spcAft>
              <a:defRPr sz="1600" b="0">
                <a:solidFill>
                  <a:srgbClr val="F2F4F8"/>
                </a:solidFill>
                <a:latin typeface="Calibri"/>
              </a:defRPr>
            </a:pPr>
            <a:r>
              <a:t>Hit rate below always-up baseline: 9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Diagnosing the negative 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ic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949440" cy="25017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SPY stress-to-return correlation: -0.23 in the initial window, +0.21 afterwards</a:t>
            </a:r>
          </a:p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as specified: mean IC -0.011</a:t>
            </a:r>
          </a:p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no regime features: mean IC -0.020</a:t>
            </a:r>
          </a:p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no stress features: mean IC +0.002</a:t>
            </a:r>
          </a:p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longer initial window: mean IC -0.011</a:t>
            </a:r>
          </a:p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no regime longer window: mean IC -0.020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Repairing the forecasts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7680959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5_forecast_re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498079" cy="28492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LSTM dispersion 1.9x to 0.34x realised returns</a:t>
            </a:r>
          </a:p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LSTM mean R2 -3.8 to -0.16</a:t>
            </a:r>
          </a:p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Calibrated forecast R2: -0.025 before, -0.014 after 2019</a:t>
            </a:r>
          </a:p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No forecast beats the historical mean in either period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Portfolio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0F17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0F17"/>
                          </a:solidFill>
                          <a:latin typeface="Calibri"/>
                        </a:defRPr>
                      </a:pPr>
                      <a:r>
                        <a:t>AnnReturn</a:t>
                      </a:r>
                    </a:p>
                  </a:txBody>
                  <a:tcPr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0F17"/>
                          </a:solidFill>
                          <a:latin typeface="Calibri"/>
                        </a:defRPr>
                      </a:pPr>
                      <a:r>
                        <a:t>AnnVol</a:t>
                      </a:r>
                    </a:p>
                  </a:txBody>
                  <a:tcPr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0F17"/>
                          </a:solidFill>
                          <a:latin typeface="Calibri"/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0F17"/>
                          </a:solidFill>
                          <a:latin typeface="Calibri"/>
                        </a:defRPr>
                      </a:pPr>
                      <a:r>
                        <a:t>MaxDrawdown</a:t>
                      </a:r>
                    </a:p>
                  </a:txBody>
                  <a:tcPr>
                    <a:solidFill>
                      <a:srgbClr val="3DD6C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BL_ML_Regime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-0.16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BL_ML_Regime_IC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-0.13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BL_ML_NoRegime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-0.23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BL_ML_Raw_Regime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-0.17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BL_HistMean_Regime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-0.15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Market_Reference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-0.21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Equal_Weight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0.11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-0.24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Static_60_40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-0.21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Inverse_Vol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-0.18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MeanVariance_LW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-0.37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Regime_60_40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-0.13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Regime_Market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2F4F8"/>
                          </a:solidFill>
                          <a:latin typeface="Calibri"/>
                        </a:defRPr>
                      </a:pPr>
                      <a:r>
                        <a:t>-0.14</a:t>
                      </a:r>
                    </a:p>
                  </a:txBody>
                  <a:tcPr>
                    <a:solidFill>
                      <a:srgbClr val="161C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Cumulative returns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1371600"/>
            <a:ext cx="80467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cumulative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463040"/>
            <a:ext cx="78638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Statistical significance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sharpe_signific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3127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2F4F8"/>
                </a:solidFill>
                <a:latin typeface="Calibri"/>
              </a:defRPr>
            </a:pPr>
            <a:r>
              <a:t>Regime ablation, Sharpe difference: -0.02 (95% interval -0.15 to 0.10, p = 0.762), not statistically significant</a:t>
            </a:r>
          </a:p>
          <a:p>
            <a:pPr>
              <a:spcAft>
                <a:spcPts val="800"/>
              </a:spcAft>
              <a:defRPr sz="1600" b="0">
                <a:solidFill>
                  <a:srgbClr val="F2F4F8"/>
                </a:solidFill>
                <a:latin typeface="Calibri"/>
              </a:defRPr>
            </a:pPr>
            <a:r>
              <a:t>In stressed months the regime-aware portfolio's worst-5% average monthly return was -4.25% against -7.05% without regime scaling.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Overlay ablation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680959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4_overlay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98079" cy="31491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2F4F8"/>
                </a:solidFill>
                <a:latin typeface="Calibri"/>
              </a:defRPr>
            </a:pPr>
            <a:r>
              <a:t>Same stress rule on 60/40: Sharpe 0.98 against 0.98</a:t>
            </a:r>
          </a:p>
          <a:p>
            <a:pPr>
              <a:spcAft>
                <a:spcPts val="800"/>
              </a:spcAft>
              <a:defRPr sz="1600" b="0">
                <a:solidFill>
                  <a:srgbClr val="F2F4F8"/>
                </a:solidFill>
                <a:latin typeface="Calibri"/>
              </a:defRPr>
            </a:pPr>
            <a:r>
              <a:t>Max drawdown -13.1% against -20.5%</a:t>
            </a:r>
          </a:p>
          <a:p>
            <a:pPr>
              <a:spcAft>
                <a:spcPts val="800"/>
              </a:spcAft>
              <a:defRPr sz="1600" b="0">
                <a:solidFill>
                  <a:srgbClr val="F2F4F8"/>
                </a:solidFill>
                <a:latin typeface="Calibri"/>
              </a:defRPr>
            </a:pPr>
            <a:r>
              <a:t>Naive historical-mean views: Sharpe 0.89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Other evaluation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7680959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6_window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498079" cy="28492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Window starts 2007-01-31, includes 2008</a:t>
            </a:r>
          </a:p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Max drawdown static 60/40: -29.5%</a:t>
            </a:r>
          </a:p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Max drawdown Regime_60_40: -16.6%</a:t>
            </a:r>
          </a:p>
          <a:p>
            <a:pPr>
              <a:spcAft>
                <a:spcPts val="800"/>
              </a:spcAft>
              <a:defRPr sz="1500" b="0">
                <a:solidFill>
                  <a:srgbClr val="F2F4F8"/>
                </a:solidFill>
                <a:latin typeface="Calibri"/>
              </a:defRPr>
            </a:pPr>
            <a:r>
              <a:t>BL_ML_Regime Sharpe: 0.69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Performance by regime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1371600"/>
            <a:ext cx="80467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regim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463040"/>
            <a:ext cx="7863840" cy="35387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Parameter sensitivity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786384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71600"/>
            <a:ext cx="7680960" cy="4301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164592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2F4F8"/>
                </a:solidFill>
                <a:latin typeface="Calibri"/>
              </a:defRPr>
            </a:pPr>
            <a:r>
              <a:t>Runs above 60/40 Sharpe: 0 of 44</a:t>
            </a:r>
          </a:p>
          <a:p>
            <a:pPr>
              <a:spcAft>
                <a:spcPts val="800"/>
              </a:spcAft>
              <a:defRPr sz="1400" b="0">
                <a:solidFill>
                  <a:srgbClr val="F2F4F8"/>
                </a:solidFill>
                <a:latin typeface="Calibri"/>
              </a:defRPr>
            </a:pPr>
            <a:r>
              <a:t>Sharpe range: 0.59 to 0.90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Prior dependence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7680959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_pri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498079" cy="31658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2F4F8"/>
                </a:solidFill>
                <a:latin typeface="Calibri"/>
              </a:defRPr>
            </a:pPr>
            <a:r>
              <a:t>reference: Sharpe gain over its prior portfolio -0.12 (p = 0.17)</a:t>
            </a:r>
          </a:p>
          <a:p>
            <a:pPr>
              <a:spcAft>
                <a:spcPts val="800"/>
              </a:spcAft>
              <a:defRPr sz="1400" b="0">
                <a:solidFill>
                  <a:srgbClr val="F2F4F8"/>
                </a:solidFill>
                <a:latin typeface="Calibri"/>
              </a:defRPr>
            </a:pPr>
            <a:r>
              <a:t>equal: Sharpe gain over its prior portfolio -0.15 (p = 0.05)</a:t>
            </a:r>
          </a:p>
          <a:p>
            <a:pPr>
              <a:spcAft>
                <a:spcPts val="800"/>
              </a:spcAft>
              <a:defRPr sz="1400" b="0">
                <a:solidFill>
                  <a:srgbClr val="F2F4F8"/>
                </a:solidFill>
                <a:latin typeface="Calibri"/>
              </a:defRPr>
            </a:pPr>
            <a:r>
              <a:t>inverse_vol: Sharpe gain over its prior portfolio -0.15 (p = 0.14)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4F8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2F4F8"/>
                </a:solidFill>
                <a:latin typeface="Calibri"/>
              </a:defRPr>
            </a:pPr>
            <a:r>
              <a:t>The research hypothesis is not supported. The highest Sharpe ratio among the Kairos portfolios and the classical benchmarks belongs to Static_60_40. The Sharpe difference of BL_ML_Regime to the best classical benchmark (Static_60_40) is -0.18 (95% interval -0.43 to 0.03, p = 0.135), not statistically significant; BL_ML_Regime is significantly better than 1 and significantly worse than 0 of the 5 classical benchmarks (5% level). For BL_ML_Regime_IC the difference is -0.12 (95% interval -0.34 to 0.05, p = 0.216), not statistically significant.</a:t>
            </a:r>
          </a:p>
          <a:p>
            <a:pPr>
              <a:spcAft>
                <a:spcPts val="800"/>
              </a:spcAft>
              <a:defRPr sz="1800" b="0">
                <a:solidFill>
                  <a:srgbClr val="F2F4F8"/>
                </a:solidFill>
                <a:latin typeface="Calibri"/>
              </a:defRPr>
            </a:pPr>
            <a:r>
              <a:t>Forecasts add no measurable value beyond a mechanical stress overlay; the regime layer mainly lowers drawdowns.</a:t>
            </a:r>
          </a:p>
          <a:p>
            <a:pPr>
              <a:spcAft>
                <a:spcPts val="800"/>
              </a:spcAft>
              <a:defRPr sz="1800" b="0">
                <a:solidFill>
                  <a:srgbClr val="F2F4F8"/>
                </a:solidFill>
                <a:latin typeface="Calibri"/>
              </a:defRPr>
            </a:pPr>
            <a:r>
              <a:t>Specification frozen at 2026-07-31; 0 new months evaluated so far.</a:t>
            </a:r>
          </a:p>
          <a:p>
            <a:pPr>
              <a:spcAft>
                <a:spcPts val="800"/>
              </a:spcAft>
              <a:defRPr sz="1800" b="0">
                <a:solidFill>
                  <a:srgbClr val="F2F4F8"/>
                </a:solidFill>
                <a:latin typeface="Calibri"/>
              </a:defRPr>
            </a:pPr>
            <a:r>
              <a:t>Limitations: about 15 years of monthly data, no observed market-capitalisation prior, repairs designed after seeing full-sample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